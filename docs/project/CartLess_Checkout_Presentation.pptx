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e7ff08b-652c-ad6b-fca3-45a4e0cd1ad5}">
          <p14:sldIdLst>
            <p14:sldId id="256"/>
          </p14:sldIdLst>
        </p14:section>
        <p14:section name="01 Introduction" id="{6b9d2cc2-568d-d121-2508-c667bd2cabd2}">
          <p14:sldIdLst>
            <p14:sldId id="257"/>
            <p14:sldId id="258"/>
          </p14:sldIdLst>
        </p14:section>
        <p14:section name="02 Working Principle" id="{4e1fc49f-e618-745e-790f-88deed030a3d}">
          <p14:sldIdLst>
            <p14:sldId id="259"/>
            <p14:sldId id="260"/>
          </p14:sldIdLst>
        </p14:section>
        <p14:section name="03 Circuit Description" id="{ab6e26e5-3b13-f95c-f777-22a0e0f90bd2}">
          <p14:sldIdLst>
            <p14:sldId id="261"/>
            <p14:sldId id="262"/>
          </p14:sldIdLst>
        </p14:section>
        <p14:section name="04 Component Description" id="{ad5120bf-2071-8f9c-235a-7493334afe62}">
          <p14:sldIdLst>
            <p14:sldId id="263"/>
          </p14:sldIdLst>
        </p14:section>
        <p14:section name="05 Software Description" id="{439c77f9-676f-d82a-c547-9f293ff1deea}">
          <p14:sldIdLst>
            <p14:sldId id="264"/>
            <p14:sldId id="265"/>
          </p14:sldIdLst>
        </p14:section>
        <p14:section name="06 Advantages and 07 Disadvantages" id="{8efeff10-1517-9dbf-2978-9ebf9da6a928}">
          <p14:sldIdLst>
            <p14:sldId id="266"/>
          </p14:sldIdLst>
        </p14:section>
        <p14:section name="08 Scope" id="{8227ff14-db1b-5448-8cd0-1796256bf33c}">
          <p14:sldIdLst>
            <p14:sldId id="267"/>
          </p14:sldIdLst>
        </p14:section>
        <p14:section name="09 Conclusion" id="{0cdb9d31-99f5-c2b8-a88a-0ddfa342211f}">
          <p14:sldIdLst>
            <p14:sldId id="268"/>
          </p14:sldIdLst>
        </p14:section>
        <p14:section name="10 References" id="{3dfab731-1178-741a-64f4-84045960750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CartLess Checkout  ·  Dept. of EXTC, SIES Graduate School of Technology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50" kern="0" dirty="0">
                <a:solidFill>
                  <a:srgbClr val="0F766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ES logo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73736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766E"/>
                </a:solidFill>
              </a:rPr>
              <a:t>MINI PROJECT  ·  SE EXTC  ·  2026–27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CartLess Checkout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089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Self-Billing Using Your Own Phone: tag-free self-checkout with phone scanning, wallet payment and a camera-verified exit pass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Hardik Hemant Rawat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125A2047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Shivraj Morde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125A2033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Ismail Mohammed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125A2052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Pranav Anand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125A2062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41605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Project Guide &amp; HOD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Dr. Swati Rane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Mini Project Coordinator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Prof. Pratibha Joshi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Department of Electronics and Telecommunication, SIES Graduate School of Technology, Nerul, Navi Mumbai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9052560" y="118872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pic>
        <p:nvPicPr>
          <p:cNvPr id="10" name="bill screen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759" y="1325880"/>
            <a:ext cx="194364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01  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queues are the slowest part of shopping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of the project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Customers queue at the counter even for two or three items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Manual billing needs a cashier at every till and is open to mistakes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Exit checks are done by eye and can be fooled by a copied bill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Published smart carts need an RFID tag on every product or a screen on every cart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8" name="step marker"/>
          <p:cNvSpPr/>
          <p:nvPr/>
        </p:nvSpPr>
        <p:spPr>
          <a:xfrm>
            <a:off x="6309360" y="2377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30428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Scan the barcode already printed on each pack with the shopper's own phone</a:t>
            </a:r>
            <a:endParaRPr lang="en-US" sz="1600" dirty="0"/>
          </a:p>
        </p:txBody>
      </p:sp>
      <p:sp>
        <p:nvSpPr>
          <p:cNvPr id="11" name="step marker"/>
          <p:cNvSpPr/>
          <p:nvPr/>
        </p:nvSpPr>
        <p:spPr>
          <a:xfrm>
            <a:off x="6309360" y="32918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21868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Pay inside the app from a prepaid CartLess Wallet topped up by cash or UPI</a:t>
            </a:r>
            <a:endParaRPr lang="en-US" sz="1600" dirty="0"/>
          </a:p>
        </p:txBody>
      </p:sp>
      <p:sp>
        <p:nvSpPr>
          <p:cNvPr id="14" name="step marker"/>
          <p:cNvSpPr/>
          <p:nvPr/>
        </p:nvSpPr>
        <p:spPr>
          <a:xfrm>
            <a:off x="6309360" y="42062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413308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Give every paid bill a signed, one-time exit pass checked by a Raspberry Pi camera</a:t>
            </a:r>
            <a:endParaRPr lang="en-US" sz="1600" dirty="0"/>
          </a:p>
        </p:txBody>
      </p:sp>
      <p:sp>
        <p:nvSpPr>
          <p:cNvPr id="17" name="step marker"/>
          <p:cNvSpPr/>
          <p:nvPr/>
        </p:nvSpPr>
        <p:spPr>
          <a:xfrm>
            <a:off x="6309360" y="51206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504748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Give staff a wallet counter, exit gate and sales dashboard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01  INTRODUCTION  ·  LITERATURE SURVEY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IEEE carts, none with all three of our features</a:t>
            </a:r>
            <a:endParaRPr lang="en-US" sz="3000" dirty="0"/>
          </a:p>
        </p:txBody>
      </p:sp>
      <p:graphicFrame>
        <p:nvGraphicFramePr>
          <p:cNvPr id="4" name="surve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14600"/>
                <a:gridCol w="1828800"/>
                <a:gridCol w="2423160"/>
                <a:gridCol w="19476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identification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/ anti-theft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results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Kumar et al., 2023 [1]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code, USB camera on cart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 or mobile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reported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Ibrahim et al., 2026 [2]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Barcode + YOLO11s on 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cashier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Shahroz et al., 2020 [3]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tag on every 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reported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Nishitha et al., 2019 [4]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Barcode on Android phone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OTP, bank or card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gate at exit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sent per network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Walid et al., 2026 [5]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tag on every 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Payment-gateway link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Load-cell weight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91.7% anti-theft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CartLess Checkout (ours)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Shopper's phone, existing barcode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wallet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one-time pass, Pi camera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tests (slide 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Gap: the papers either tag every product, send the shopper to a cashier, or have no exit check.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02  WORKING PRINCIPLE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Scan, pay, show the pass, leave</a:t>
            </a:r>
            <a:endParaRPr lang="en-US" sz="3000" dirty="0"/>
          </a:p>
        </p:txBody>
      </p:sp>
      <p:pic>
        <p:nvPicPr>
          <p:cNvPr id="4" name="methodology flowchart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589643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12480" y="1600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947672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Phone camera reads EAN/UPC/Code 128 barcodes and QR labels; codes not in the catalogue are refused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743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090672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Bill is taken from the CartLess Wallet; a short balance is refused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3886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pass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4233672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Paid bill shows an HMAC-signed, one-time QR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5029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5376672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Pi camera reads it; green LED + beep, or red LED + beeps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02  WORKING PRINCIPLE  ·  WALLET AND EXIT PASS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moves only when staff confirm; a pass works only once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212080" cy="3401568"/>
          </a:xfrm>
          <a:prstGeom prst="roundRect">
            <a:avLst>
              <a:gd name="adj" fmla="val 215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 exit pass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HMAC-SHA256(K, order ‖ user)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(first 64 bits)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 = SCBILL-&lt;order&gt;-&lt;s&gt;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K is the server's secret; the phone and the Pi never see 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Server checks the signature, that the bill is paid, and that it was never used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Top-up tokens (SCTOP-…) are signed the same way and credited exactly once</a:t>
            </a:r>
            <a:endParaRPr lang="en-US" sz="1500" dirty="0"/>
          </a:p>
        </p:txBody>
      </p:sp>
      <p:graphicFrame>
        <p:nvGraphicFramePr>
          <p:cNvPr id="6" name="exit 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00200"/>
          <a:ext cx="551657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16733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Genuine, paid, first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+ 1 beep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or second person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+ 2 beeps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or edited QR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+ long beep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flagged scans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flashing + 3 beeps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on staff counter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double blink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03  CIRCUIT DESCRIPTION  ·  BLOCK DIAGRAM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 only calls out; the server decides every check</a:t>
            </a:r>
            <a:endParaRPr lang="en-US" sz="3000" dirty="0"/>
          </a:p>
        </p:txBody>
      </p:sp>
      <p:pic>
        <p:nvPicPr>
          <p:cNvPr id="4" name="block diagram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255" y="1508760"/>
            <a:ext cx="7705186" cy="4434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Phone, staff devices and the Pi all talk to one Flask + MySQL server over HTTPS. Dashed: load cell and HX711, built but switched off.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03  CIRCUIT DESCRIPTION  ·  WIRING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LEDs, a buzzer and the HX711 on the Pi's GPIO header</a:t>
            </a:r>
            <a:endParaRPr lang="en-US" sz="3000" dirty="0"/>
          </a:p>
        </p:txBody>
      </p:sp>
      <p:pic>
        <p:nvPicPr>
          <p:cNvPr id="4" name="circuit diagram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428385" cy="4480560"/>
          </a:xfrm>
          <a:prstGeom prst="rect">
            <a:avLst/>
          </a:prstGeom>
        </p:spPr>
      </p:pic>
      <p:graphicFrame>
        <p:nvGraphicFramePr>
          <p:cNvPr id="8" name="pi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0" y="1600200"/>
          <a:ext cx="295625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640080"/>
                <a:gridCol w="89885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HX711 VCC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HX711 GND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HX711 DT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HX711 SCK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GND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686800" y="566928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LEDs through 220 Ω resistors; camera on the CSI ribbon port.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04  COMPONENT DESCRIPTION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Raspberry Pi with a camera replaces three ESP32 boards</a:t>
            </a:r>
            <a:endParaRPr lang="en-US" sz="3000" dirty="0"/>
          </a:p>
        </p:txBody>
      </p:sp>
      <p:graphicFrame>
        <p:nvGraphicFramePr>
          <p:cNvPr id="9" name="compon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560320"/>
                <a:gridCol w="22860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4 Model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Quad-core Cortex-A72, Wi-Fi, 40-pin GPIO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exit-gate program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Camera v2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MP Sony IMX219, CSI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passes and tokens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cell + HX711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kg bridge, 24-bit ADC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check (switched off)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/ red 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mm, 220 Ω resistors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/ stop 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buzzer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Audible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Shopper's phone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+ browser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Scanner and wallet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Pi display photo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600200"/>
            <a:ext cx="3824935" cy="172122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818120" y="3367141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CartLess wallet counter on the Pi's own display, lab EXTC 129</a:t>
            </a:r>
            <a:endParaRPr lang="en-US" sz="1100" dirty="0"/>
          </a:p>
        </p:txBody>
      </p:sp>
      <p:pic>
        <p:nvPicPr>
          <p:cNvPr id="7" name="Pi wiring photo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732901"/>
            <a:ext cx="1371600" cy="1828800"/>
          </a:xfrm>
          <a:prstGeom prst="rect">
            <a:avLst/>
          </a:prstGeom>
        </p:spPr>
      </p:pic>
      <p:pic>
        <p:nvPicPr>
          <p:cNvPr id="8" name="HX711 photo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2028" y="3732901"/>
            <a:ext cx="13716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05  SOFTWARE DESCRIPTION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programs, one server holding every secret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15258" cy="2468880"/>
          </a:xfrm>
          <a:prstGeom prst="roundRect">
            <a:avLst>
              <a:gd name="adj" fmla="val 296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666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Python, Flask, SQLAlchemy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MySQL 8 with row locks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Catalogue cached in memory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Render + Aiven hosting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338218" y="1600200"/>
            <a:ext cx="3515258" cy="2468880"/>
          </a:xfrm>
          <a:prstGeom prst="roundRect">
            <a:avLst>
              <a:gd name="adj" fmla="val 296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2538" y="18288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2331720"/>
            <a:ext cx="29666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Plain HTML, CSS, JavaScript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Installs as an app (PWA)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Shopper: shop, scan, cart, wallet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Staff: counter, exit gate, dashboard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8127797" y="1600200"/>
            <a:ext cx="3515258" cy="2468880"/>
          </a:xfrm>
          <a:prstGeom prst="roundRect">
            <a:avLst>
              <a:gd name="adj" fmla="val 296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2117" y="18288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Raspberry Pi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402117" y="2331720"/>
            <a:ext cx="29666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cart_agent.py in Python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Picamera2 + pyzbar QR decoding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lgpio for LEDs, buzzer, HX711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Outgoing HTTPS + device key only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9204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HMAC-signed, one-time passes and tokens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67523" y="489204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Hashed passwords, 15-min lockout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86406" y="489204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Rate limits per user and address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05289" y="489204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Content-Security-Policy on every page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424172" y="489204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No secrets in the code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05  SOFTWARE DESCRIPTION  ·  RESULTS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forged, edited or reused pass was refused in testing</a:t>
            </a:r>
            <a:endParaRPr lang="en-US" sz="3000" dirty="0"/>
          </a:p>
        </p:txBody>
      </p:sp>
      <p:pic>
        <p:nvPicPr>
          <p:cNvPr id="4" name="Scan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645920" cy="35619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2078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Scan</a:t>
            </a:r>
            <a:endParaRPr lang="en-US" sz="1100" dirty="0"/>
          </a:p>
        </p:txBody>
      </p:sp>
      <p:pic>
        <p:nvPicPr>
          <p:cNvPr id="6" name="Bill + exit pass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600200"/>
            <a:ext cx="1645920" cy="35619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31720" y="52078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Bill + exit pass</a:t>
            </a:r>
            <a:endParaRPr lang="en-US" sz="1100" dirty="0"/>
          </a:p>
        </p:txBody>
      </p:sp>
      <p:pic>
        <p:nvPicPr>
          <p:cNvPr id="8" name="Exit gate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00200"/>
            <a:ext cx="1645920" cy="35619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114800" y="52078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Exit gate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6172200" y="1600200"/>
            <a:ext cx="2598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 / 360</a:t>
            </a:r>
            <a:endParaRPr lang="en-US" sz="3400" dirty="0"/>
          </a:p>
        </p:txBody>
      </p:sp>
      <p:sp>
        <p:nvSpPr>
          <p:cNvPr id="11" name="Text 6"/>
          <p:cNvSpPr txBox="1"/>
          <p:nvPr/>
        </p:nvSpPr>
        <p:spPr>
          <a:xfrm>
            <a:off x="6172200" y="2240280"/>
            <a:ext cx="2598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forged or edited passes refused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9044788" y="1600200"/>
            <a:ext cx="2598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/ 90</a:t>
            </a:r>
            <a:endParaRPr lang="en-US" sz="3400" dirty="0"/>
          </a:p>
        </p:txBody>
      </p:sp>
      <p:sp>
        <p:nvSpPr>
          <p:cNvPr id="13" name="Text 8"/>
          <p:cNvSpPr txBox="1"/>
          <p:nvPr/>
        </p:nvSpPr>
        <p:spPr>
          <a:xfrm>
            <a:off x="9044788" y="2240280"/>
            <a:ext cx="2598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second use of a genuine pass refused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172200" y="2971800"/>
            <a:ext cx="2598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/ 300</a:t>
            </a:r>
            <a:endParaRPr lang="en-US" sz="3400" dirty="0"/>
          </a:p>
        </p:txBody>
      </p:sp>
      <p:sp>
        <p:nvSpPr>
          <p:cNvPr id="15" name="Text 10"/>
          <p:cNvSpPr txBox="1"/>
          <p:nvPr/>
        </p:nvSpPr>
        <p:spPr>
          <a:xfrm>
            <a:off x="6172200" y="3611880"/>
            <a:ext cx="2598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unknown or mistyped barcodes refused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044788" y="2971800"/>
            <a:ext cx="2598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50</a:t>
            </a:r>
            <a:endParaRPr lang="en-US" sz="3400" dirty="0"/>
          </a:p>
        </p:txBody>
      </p:sp>
      <p:sp>
        <p:nvSpPr>
          <p:cNvPr id="17" name="Text 12"/>
          <p:cNvSpPr txBox="1"/>
          <p:nvPr/>
        </p:nvSpPr>
        <p:spPr>
          <a:xfrm>
            <a:off x="9044788" y="3611880"/>
            <a:ext cx="2598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edited top-up tokens refused; each credited once</a:t>
            </a:r>
            <a:endParaRPr lang="en-US" sz="1300" dirty="0"/>
          </a:p>
        </p:txBody>
      </p:sp>
      <p:graphicFrame>
        <p:nvGraphicFramePr>
          <p:cNvPr id="11" name="latenc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4389120"/>
          <a:ext cx="5470855" cy="914400"/>
        </p:xfrm>
        <a:graphic>
          <a:graphicData uri="http://schemas.openxmlformats.org/drawingml/2006/table">
            <a:tbl>
              <a:tblPr/>
              <a:tblGrid>
                <a:gridCol w="3276295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processing time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95th pct.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an item (n = 300)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from wallet (n = 90)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pass via Pi endpoint (n = 90)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3"/>
          <p:cNvSpPr txBox="1"/>
          <p:nvPr/>
        </p:nvSpPr>
        <p:spPr>
          <a:xfrm>
            <a:off x="6172200" y="6035040"/>
            <a:ext cx="5470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Measured in-process on a 2-core test server with MySQL 8, rate limiting off; network and Pi camera time not included.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06  ADVANTAGES   ·   07  DISADVANTAGES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 better than the papers, and where we fall short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364328" cy="4023360"/>
          </a:xfrm>
          <a:prstGeom prst="roundRect">
            <a:avLst>
              <a:gd name="adj" fmla="val 1818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5" name="card"/>
          <p:cNvSpPr/>
          <p:nvPr/>
        </p:nvSpPr>
        <p:spPr>
          <a:xfrm>
            <a:off x="6278728" y="1600200"/>
            <a:ext cx="5364328" cy="4023360"/>
          </a:xfrm>
          <a:prstGeom prst="roundRect">
            <a:avLst>
              <a:gd name="adj" fmla="val 1818"/>
            </a:avLst>
          </a:prstGeom>
          <a:solidFill>
            <a:srgbClr val="FDF3E7"/>
          </a:solidFill>
          <a:ln w="12700">
            <a:solidFill>
              <a:srgbClr val="FDF3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No product tags: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uses barcodes already printed on packs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Pay in the app: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no cashier queue, staff confirm top-ups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Verified exit: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signed, one-time pass read by a Pi camera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Low cost: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one Pi at the exit, no computer on each cart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Staff tools: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counter, exit gate, sales and stock dashboard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53048" y="18288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33172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Weight check off: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HX711 board failed, so unscanned items are not caught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Pass proves payment, not the bag: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staff still check the bag by eye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No in-store trial yet: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results are server tests, not shoppers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Needs a phone and internet;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free hosting wakes in ~30 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Top-up needs staff: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no payment gateway yet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08  SCOPE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 that close the gaps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C"/>
                </a:solidFill>
              </a:rPr>
              <a:t>Fix the scale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Fit a working HX711, set a tolerance per product and measure accuracy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38218" y="160020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2860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C"/>
                </a:solidFill>
              </a:rPr>
              <a:t>In-store trial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69748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Time scan, payment and exit over 100+ real shoppers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8127797" y="160020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2117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2860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C"/>
                </a:solidFill>
              </a:rPr>
              <a:t>Weigh the bag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69748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Compare the bag's weight with the bill at the exit gate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48640" y="384048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262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C"/>
                </a:solidFill>
              </a:rPr>
              <a:t>UPI gateway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377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Clear top-ups and bills without staff confirmation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338218" y="384048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2538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612538" y="45262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C"/>
                </a:solidFill>
              </a:rPr>
              <a:t>Recognise products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612538" y="49377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Small YOLO model on the Pi camera, as in [2]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8127797" y="384048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02117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402117" y="45262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C"/>
                </a:solidFill>
              </a:rPr>
              <a:t>ESP32 version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402117" y="49377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Lower-cost cart electronics for semester 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09  CONCLUSION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Self-checkout without tags or a computer on every cart</a:t>
            </a:r>
            <a:endParaRPr lang="en-US" sz="3000" dirty="0"/>
          </a:p>
        </p:txBody>
      </p:sp>
      <p:sp>
        <p:nvSpPr>
          <p:cNvPr id="4" name="point marker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end to end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574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Phone scanning, wallet payment and a Pi-camera exit gate, live at smartcart-gkrx.onrender.com</a:t>
            </a:r>
            <a:endParaRPr lang="en-US" sz="1600" dirty="0"/>
          </a:p>
        </p:txBody>
      </p:sp>
      <p:sp>
        <p:nvSpPr>
          <p:cNvPr id="8" name="point marker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design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04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Every forged, edited and reused pass was refused in testing; money moves only after staff confirm</a:t>
            </a:r>
            <a:endParaRPr lang="en-US" sz="1600" dirty="0"/>
          </a:p>
        </p:txBody>
      </p:sp>
      <p:sp>
        <p:nvSpPr>
          <p:cNvPr id="12" name="point marker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526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gap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9834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weight check is off and there is no in-store trial yet: both are the next steps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8595360" y="1600200"/>
            <a:ext cx="3047695" cy="4206240"/>
          </a:xfrm>
          <a:prstGeom prst="roundRect">
            <a:avLst>
              <a:gd name="adj" fmla="val 2400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pic>
        <p:nvPicPr>
          <p:cNvPr id="17" name="exit ok screen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0766" y="1737360"/>
            <a:ext cx="1816882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10  REFERENCES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944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[1]  M. Kumar et al., “Intelligent Shopping Trolley with Automated Billing using Raspberry Pi,” Proc. ICSTCEE, 2023, doi: 10.1109/ICSTCEE60504.2023.10585242.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[2]  N. Ibrahim et al., “Smart Shopping Cart: A Raspberry Pi-Based System for Reducing Supermarket Checkout Delays,” Proc. 3SCEA, 2026, pp. 1100–1109, doi: 10.1109/3SCEA68071.2026.11602934.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[3]  M. Shahroz et al., “IoT-Based Smart Shopping Cart Using Radio Frequency Identification,” IEEE Access, vol. 8, pp. 68426–68438, 2020, doi: 10.1109/ACCESS.2020.2986681.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[4]  R. Nishitha et al., “IoT Based Automatic Billing System Using Barcode Scanner by Android Device and Monitoring Unregistered Barcode by RFID,” Proc. RTEICT, 2019, pp. 15–20, doi: 10.1109/RTEICT46194.2019.9016698.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[5]  M. H. Walid et al., “The Smart Cart with Automatic Billing and Anti-Theft,” Proc. ICEECE, 2026, doi: 10.1109/ICEECE71300.2026.11709931.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[6]  H. Krawczyk, M. Bellare and R. Canetti, “HMAC: Keyed-Hashing for Message Authentication,” RFC 2104, IETF, 1997.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Project code and live demo: github.com/hardikrawat910-byte/cartless-checkout  ·  smartcart-gkrx.onrender.com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tLess Minimal">
  <a:themeElements>
    <a:clrScheme name="CartLess Minimal">
      <a:dk1>
        <a:srgbClr val="1F2937"/>
      </a:dk1>
      <a:lt1>
        <a:srgbClr val="FFFFFF"/>
      </a:lt1>
      <a:dk2>
        <a:srgbClr val="0B2B3C"/>
      </a:dk2>
      <a:lt2>
        <a:srgbClr val="F3F6F7"/>
      </a:lt2>
      <a:accent1>
        <a:srgbClr val="0F766E"/>
      </a:accent1>
      <a:accent2>
        <a:srgbClr val="B45309"/>
      </a:accent2>
      <a:accent3>
        <a:srgbClr val="6B7280"/>
      </a:accent3>
      <a:accent4>
        <a:srgbClr val="15803D"/>
      </a:accent4>
      <a:accent5>
        <a:srgbClr val="B91C1C"/>
      </a:accent5>
      <a:accent6>
        <a:srgbClr val="CBD5E1"/>
      </a:accent6>
      <a:hlink>
        <a:srgbClr val="0F766E"/>
      </a:hlink>
      <a:folHlink>
        <a:srgbClr val="6B7280"/>
      </a:folHlink>
    </a:clrScheme>
    <a:fontScheme name="CartLess Minim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CartLess Checkout: Self-Billing Using Your Own Phone</dc:title>
  <dc:subject>PptxGenJS Presentation</dc:subject>
  <dc:creator>Hardik Hemant Rawat, Shivraj Morde, Ismail Mohammed, Pranav Anand</dc:creator>
  <cp:lastModifiedBy>Hardik Hemant Rawat, Shivraj Morde, Ismail Mohammed, Pranav Anand</cp:lastModifiedBy>
  <cp:revision>1</cp:revision>
  <dcterms:created xsi:type="dcterms:W3CDTF">2026-10-21T16:14:30Z</dcterms:created>
  <dcterms:modified xsi:type="dcterms:W3CDTF">2026-10-21T16:14:30Z</dcterms:modified>
</cp:coreProperties>
</file>