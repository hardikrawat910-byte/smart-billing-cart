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36cee197-b550-c45b-e7b1-8bce6b4776be}">
          <p14:sldIdLst>
            <p14:sldId id="256"/>
          </p14:sldIdLst>
        </p14:section>
        <p14:section name="Problem" id="{2b74853a-2cf2-6081-ae62-caa0c4d99e12}">
          <p14:sldIdLst>
            <p14:sldId id="257"/>
          </p14:sldIdLst>
        </p14:section>
        <p14:section name="How it works" id="{a1c96c4d-c9ab-1026-d92d-63847f48f6c0}">
          <p14:sldIdLst>
            <p14:sldId id="258"/>
          </p14:sldIdLst>
        </p14:section>
        <p14:section name="Architecture" id="{9d72ebbf-43eb-36f4-f9a4-14742a63ad65}">
          <p14:sldIdLst>
            <p14:sldId id="259"/>
          </p14:sldIdLst>
        </p14:section>
        <p14:section name="Python stack" id="{2b3b5c2a-6ab6-bdd1-ce70-940ab032f547}">
          <p14:sldIdLst>
            <p14:sldId id="260"/>
          </p14:sldIdLst>
        </p14:section>
        <p14:section name="Code structure" id="{ac93104c-d6a0-9217-44a7-274555c5564e}">
          <p14:sldIdLst>
            <p14:sldId id="261"/>
          </p14:sldIdLst>
        </p14:section>
        <p14:section name="Database" id="{b3174334-f1e4-1987-8b1e-439e284d7ebb}">
          <p14:sldIdLst>
            <p14:sldId id="262"/>
          </p14:sldIdLst>
        </p14:section>
        <p14:section name="Key code" id="{61b8d50c-bd53-03c4-ae96-293969acf690}">
          <p14:sldIdLst>
            <p14:sldId id="263"/>
            <p14:sldId id="264"/>
          </p14:sldIdLst>
        </p14:section>
        <p14:section name="Hardware" id="{7489b453-5518-d8cf-6504-cd794470bb7a}">
          <p14:sldIdLst>
            <p14:sldId id="265"/>
          </p14:sldIdLst>
        </p14:section>
        <p14:section name="Working software" id="{84e74194-62ad-007a-cb78-e4dd105bc692}">
          <p14:sldIdLst>
            <p14:sldId id="266"/>
            <p14:sldId id="267"/>
          </p14:sldIdLst>
        </p14:section>
        <p14:section name="Testing" id="{ea858ef8-ee6b-d65d-cf78-922b1738946f}">
          <p14:sldIdLst>
            <p14:sldId id="268"/>
          </p14:sldIdLst>
        </p14:section>
        <p14:section name="Conclusion" id="{7480af06-16d7-a72b-decd-f3764b14ea3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 Cart  ·  Dept. of EXTC, SIES Graduate School of Technology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50" kern="0" dirty="0">
                <a:solidFill>
                  <a:srgbClr val="0F766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ES logo" descr="pic s1 Picture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73736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766E"/>
                </a:solidFill>
              </a:rPr>
              <a:t>SKILL LAB  ·  PYTHON PROJECT  ·  SE EXTC 2026–27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Billing Cart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089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A self-checkout system written in Python: a Flask web server for shoppers and staff, and a Raspberry Pi program that checks bills at the exit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Hardik Hemant Rawat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125A2047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Shivraj Morde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125A2033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Ismail Mohammed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125A2052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Pranav Anand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125A2062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Guide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Dr. Swati Rane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Department of Electronics and Telecommunication, SIES Graduate School of Technology, Nerul, Navi Mumbai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9052560" y="118872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pic>
        <p:nvPicPr>
          <p:cNvPr id="10" name="scan screen" descr="02 scan add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759" y="1325880"/>
            <a:ext cx="194364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01  PROBLEM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queues are the slowest part of shopping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Customers queue at the counter even for two or three items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Every till needs a cashier, and manual billing has mistakes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Exit checks are done by eye and can be fooled by a copied bill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our Python project does</a:t>
            </a:r>
            <a:endParaRPr lang="en-US" sz="2000" dirty="0"/>
          </a:p>
        </p:txBody>
      </p:sp>
      <p:sp>
        <p:nvSpPr>
          <p:cNvPr id="8" name="step marker"/>
          <p:cNvSpPr/>
          <p:nvPr/>
        </p:nvSpPr>
        <p:spPr>
          <a:xfrm>
            <a:off x="6309360" y="2377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331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Shopper scans the barcode on each pack with their phone</a:t>
            </a:r>
            <a:endParaRPr lang="en-US" sz="1600" dirty="0"/>
          </a:p>
        </p:txBody>
      </p:sp>
      <p:sp>
        <p:nvSpPr>
          <p:cNvPr id="11" name="step marker"/>
          <p:cNvSpPr/>
          <p:nvPr/>
        </p:nvSpPr>
        <p:spPr>
          <a:xfrm>
            <a:off x="6309360" y="32461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200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Pays from an in-app SmartCart Wallet</a:t>
            </a:r>
            <a:endParaRPr lang="en-US" sz="1600" dirty="0"/>
          </a:p>
        </p:txBody>
      </p:sp>
      <p:sp>
        <p:nvSpPr>
          <p:cNvPr id="14" name="step marker"/>
          <p:cNvSpPr/>
          <p:nvPr/>
        </p:nvSpPr>
        <p:spPr>
          <a:xfrm>
            <a:off x="6309360" y="41148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4069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Gets a signed, one-time exit pass (QR code)</a:t>
            </a:r>
            <a:endParaRPr lang="en-US" sz="1600" dirty="0"/>
          </a:p>
        </p:txBody>
      </p:sp>
      <p:sp>
        <p:nvSpPr>
          <p:cNvPr id="17" name="step marker"/>
          <p:cNvSpPr/>
          <p:nvPr/>
        </p:nvSpPr>
        <p:spPr>
          <a:xfrm>
            <a:off x="6309360" y="49834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937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 Raspberry Pi camera checks the pass at the exit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02  HOW IT WORKS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Scan, pay, show the pass, leave</a:t>
            </a:r>
            <a:endParaRPr lang="en-US" sz="3000" dirty="0"/>
          </a:p>
        </p:txBody>
      </p:sp>
      <p:pic>
        <p:nvPicPr>
          <p:cNvPr id="4" name="flowchart" descr="fig flow cle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589643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12480" y="1600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965960"/>
            <a:ext cx="3230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Phone camera reads the barcode; codes not in the catalogue are refused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743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108960"/>
            <a:ext cx="3230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Bill is taken from the wallet; a short balance is refused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3886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pass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4251960"/>
            <a:ext cx="3230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Paid bill shows an HMAC-signed, one-time QR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5029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5394960"/>
            <a:ext cx="3230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Pi camera reads it: green LED + beep, or red LED + beeps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03  SYSTEM ARCHITECTURE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Python programs talk over HTTPS</a:t>
            </a:r>
            <a:endParaRPr lang="en-US" sz="3000" dirty="0"/>
          </a:p>
        </p:txBody>
      </p:sp>
      <p:pic>
        <p:nvPicPr>
          <p:cNvPr id="4" name="block diagram" descr="fig block cle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255" y="1508760"/>
            <a:ext cx="7705186" cy="4434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The server (Flask) and the Pi program (cart_agent.py) are both Python; the phone only runs the web pages the server sends. Dashed: scale built but switched off.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04  PYTHON LIBRARIES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Well-known Python libraries do the heavy lifting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 (backend/)</a:t>
            </a:r>
            <a:endParaRPr lang="en-US" sz="1800" dirty="0"/>
          </a:p>
        </p:txBody>
      </p:sp>
      <p:graphicFrame>
        <p:nvGraphicFramePr>
          <p:cNvPr id="6" name="server librari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536432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1256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3.1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server, pages and JSON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Flask-SQLAlchemy / SQLAlchemy 2.1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models (ORM)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PyMySQL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to MySQL 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Flask-JWT-Extended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tokens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 + hashlib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Signs exit passes and tokens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Shrinks product photos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Gunicorn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server on Render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78728" y="16002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Raspberry Pi  (pi/cart_agent.py)</a:t>
            </a:r>
            <a:endParaRPr lang="en-US" sz="1800" dirty="0"/>
          </a:p>
        </p:txBody>
      </p:sp>
      <p:graphicFrame>
        <p:nvGraphicFramePr>
          <p:cNvPr id="11" name="pi librari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2057400"/>
          <a:ext cx="536432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3526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Picamera2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frames from Pi Camera v2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pyzbar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Decodes QR codes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lgpio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LEDs, buzzer, HX711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urllib.request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calls to the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Lights and camera run side by side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configparser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cart_agent.ini settings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05  CODE STRUCTURE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4,900 lines of Python in two programs</a:t>
            </a:r>
            <a:endParaRPr lang="en-US" sz="3000" dirty="0"/>
          </a:p>
        </p:txBody>
      </p:sp>
      <p:graphicFrame>
        <p:nvGraphicFramePr>
          <p:cNvPr id="7" name="fi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914400"/>
                <a:gridCol w="66138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backend/app.py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Flask, registers routes, security headers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backend/models.py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database tables as SQLAlchemy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backend/routes/ (11 files)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API: auth, scan, cart, orders, wallet, exit gate, admin…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backend/services.py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 signing, barcode helpers, shared checks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backend/security.py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limits, Content-Security-Policy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backend/cache.py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the catalogue in 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backend/seed.py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tables and 48 store products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pi/cart_agent.py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program: 12 classes (camera, QR, lights, scale, server)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06  DATABASE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tables, defined as Python classes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2567864" cy="2468880"/>
          </a:xfrm>
          <a:prstGeom prst="roundRect">
            <a:avLst>
              <a:gd name="adj" fmla="val 296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110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ProductImage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390824" y="1600200"/>
            <a:ext cx="2567864" cy="2468880"/>
          </a:xfrm>
          <a:prstGeom prst="roundRect">
            <a:avLst>
              <a:gd name="adj" fmla="val 296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9424" y="1783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and orders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619424" y="2286000"/>
            <a:ext cx="2110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CartItem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OrderItem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ShoppingListItem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233008" y="1600200"/>
            <a:ext cx="2567864" cy="2468880"/>
          </a:xfrm>
          <a:prstGeom prst="roundRect">
            <a:avLst>
              <a:gd name="adj" fmla="val 296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1783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2286000"/>
            <a:ext cx="2110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WalletTransaction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TopupRequest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9075191" y="1600200"/>
            <a:ext cx="2567864" cy="2468880"/>
          </a:xfrm>
          <a:prstGeom prst="roundRect">
            <a:avLst>
              <a:gd name="adj" fmla="val 296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03791" y="178308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and safety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303791" y="2286000"/>
            <a:ext cx="21106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HardwareReading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FlaggedTransaction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CartAlert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HelpRequest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891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Money changes only inside a database row lock, and every change is logged with the balance after 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Prices are always read from the Product table, never taken from the phone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07  KEY CODE  ·  SIGNED EXIT PASS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lines of Python sign every bill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7132320" cy="3017520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backend/services.py</a:t>
            </a:r>
            <a:endParaRPr lang="en-US" sz="1300" dirty="0"/>
          </a:p>
        </p:txBody>
      </p:sp>
      <p:sp>
        <p:nvSpPr>
          <p:cNvPr id="6" name="code"/>
          <p:cNvSpPr txBox="1"/>
          <p:nvPr/>
        </p:nvSpPr>
        <p:spPr>
          <a:xfrm>
            <a:off x="822960" y="2194560"/>
            <a:ext cx="6583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_bill_signature(order):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 = f"smartcart-bill:{order.id}:{order.user_id}".encode()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= current_app.config["JWT_SECRET_KEY"].encode()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hmac.new(key, message, hashlib.sha256).hexdigest()[:16]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bill_code(order):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f"SCBILL-{order.id}-{_bill_signature(order)}"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bill_signature_ok(order, signature):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hmac.compare_digest(_bill_signature(order), signature)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60020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key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196596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Only the server knows it; the phone and the Pi never see 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78892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64-bit signature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315468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Changing one character of the QR makes it invalid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397764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comparison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434340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compare_digest takes the same time whether the guess is close or not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516636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use only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553212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The order records its first exit, so a reused bill is refused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07  KEY CODE  ·  RASPBERRY PI PROGRAM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 reads a QR, asks the server, and lights up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6766560" cy="2743200"/>
          </a:xfrm>
          <a:prstGeom prst="roundRect">
            <a:avLst>
              <a:gd name="adj" fmla="val 2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pi/cart_agent.py  (main loop, shortened)</a:t>
            </a:r>
            <a:endParaRPr lang="en-US" sz="1300" dirty="0"/>
          </a:p>
        </p:txBody>
      </p:sp>
      <p:sp>
        <p:nvSpPr>
          <p:cNvPr id="6" name="code"/>
          <p:cNvSpPr txBox="1"/>
          <p:nvPr/>
        </p:nvSpPr>
        <p:spPr>
          <a:xfrm>
            <a:off x="822960" y="2194560"/>
            <a:ext cx="6217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codes = self.qr.decode(self.camera.gray_frame())  # pyzbar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code in codes: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code.upper().startswith(("SCBILL-", "SCTOP-")):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                # not a bill or a token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status, payload = self.server.check_bill(code)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payload.get("result")   # ok/used/invalid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self.lights.show(result)         # LEDs + buzzer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0020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classes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057400"/>
            <a:ext cx="39620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PiCamera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frames from Pi Camera v2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QrReader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pyzbar decoding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HTTPS + device key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Lights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LED and beep patterns (own thread)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HX711, Scale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load-cell reading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  ties it all together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26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Starts by itself at power-on (systemd) and sends a heartbeat every 30 s so staff see it online.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08  HARDWARE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Raspberry Pi 4, Pi Camera v2, two LEDs and a buzzer</a:t>
            </a:r>
            <a:endParaRPr lang="en-US" sz="3000" dirty="0"/>
          </a:p>
        </p:txBody>
      </p:sp>
      <p:pic>
        <p:nvPicPr>
          <p:cNvPr id="4" name="circuit diagram" descr="fig circuit cle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4191676"/>
          </a:xfrm>
          <a:prstGeom prst="rect">
            <a:avLst/>
          </a:prstGeom>
        </p:spPr>
      </p:pic>
      <p:pic>
        <p:nvPicPr>
          <p:cNvPr id="5" name="Pi display" descr="pi desktop coun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00200"/>
            <a:ext cx="3870655" cy="17417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0" y="3387715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Our software running on the Pi's own display, lab EXTC 129</a:t>
            </a:r>
            <a:endParaRPr lang="en-US" sz="1100" dirty="0"/>
          </a:p>
        </p:txBody>
      </p:sp>
      <p:pic>
        <p:nvPicPr>
          <p:cNvPr id="7" name="Pi wiring" descr="raspberry pi gpio wir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753475"/>
            <a:ext cx="1371600" cy="1828800"/>
          </a:xfrm>
          <a:prstGeom prst="rect">
            <a:avLst/>
          </a:prstGeom>
        </p:spPr>
      </p:pic>
      <p:pic>
        <p:nvPicPr>
          <p:cNvPr id="8" name="HX711" descr="hx711 load cell amplifi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9168" y="3753475"/>
            <a:ext cx="13716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09  WORKING SOFTWARE  ·  SHOPPER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scan to exit on the shopper's phone</a:t>
            </a:r>
            <a:endParaRPr lang="en-US" sz="3000" dirty="0"/>
          </a:p>
        </p:txBody>
      </p:sp>
      <p:pic>
        <p:nvPicPr>
          <p:cNvPr id="4" name="Shop" descr="01 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786" y="1600200"/>
            <a:ext cx="1859136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96712"/>
            <a:ext cx="1999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Shop</a:t>
            </a:r>
            <a:endParaRPr lang="en-US" sz="1100" dirty="0"/>
          </a:p>
        </p:txBody>
      </p:sp>
      <p:pic>
        <p:nvPicPr>
          <p:cNvPr id="6" name="Scan" descr="02 scan add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533" y="1600200"/>
            <a:ext cx="1859136" cy="40233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822387" y="5696712"/>
            <a:ext cx="1999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Scan</a:t>
            </a:r>
            <a:endParaRPr lang="en-US" sz="1100" dirty="0"/>
          </a:p>
        </p:txBody>
      </p:sp>
      <p:pic>
        <p:nvPicPr>
          <p:cNvPr id="8" name="Cart + offers" descr="03 c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280" y="1600200"/>
            <a:ext cx="1859136" cy="40233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096134" y="5696712"/>
            <a:ext cx="1999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Cart + offers</a:t>
            </a:r>
            <a:endParaRPr lang="en-US" sz="1100" dirty="0"/>
          </a:p>
        </p:txBody>
      </p:sp>
      <p:pic>
        <p:nvPicPr>
          <p:cNvPr id="10" name="Wallet top-up" descr="05 wallet token up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027" y="1600200"/>
            <a:ext cx="1859136" cy="402336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369881" y="5696712"/>
            <a:ext cx="1999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Wallet top-up</a:t>
            </a:r>
            <a:endParaRPr lang="en-US" sz="1100" dirty="0"/>
          </a:p>
        </p:txBody>
      </p:sp>
      <p:pic>
        <p:nvPicPr>
          <p:cNvPr id="12" name="Bill + exit pass" descr="04 bil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3774" y="1600200"/>
            <a:ext cx="1859136" cy="402336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9643628" y="5696712"/>
            <a:ext cx="19994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Bill + exit pass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09  WORKING SOFTWARE  ·  STAFF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confirm payments and watch the exit gate</a:t>
            </a:r>
            <a:endParaRPr lang="en-US" sz="3000" dirty="0"/>
          </a:p>
        </p:txBody>
      </p:sp>
      <p:pic>
        <p:nvPicPr>
          <p:cNvPr id="4" name="Wallet counter" descr="06 counter u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261" y="1600200"/>
            <a:ext cx="1859136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96712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Wallet counter</a:t>
            </a:r>
            <a:endParaRPr lang="en-US" sz="1100" dirty="0"/>
          </a:p>
        </p:txBody>
      </p:sp>
      <p:pic>
        <p:nvPicPr>
          <p:cNvPr id="6" name="Exit gate: OK" descr="07 exit 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280" y="1600200"/>
            <a:ext cx="1859136" cy="40233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429658" y="5696712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Exit gate: OK</a:t>
            </a:r>
            <a:endParaRPr lang="en-US" sz="1100" dirty="0"/>
          </a:p>
        </p:txBody>
      </p:sp>
      <p:pic>
        <p:nvPicPr>
          <p:cNvPr id="8" name="Admin dashboard" descr="08 dash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298" y="1600200"/>
            <a:ext cx="1859136" cy="40233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310677" y="5696712"/>
            <a:ext cx="333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Admin dashboard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10  TESTING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forged, edited or reused pass was refused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19 Python test scripts drive the real server with Flask's test client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They create shoppers, scan, pay, and attack the exit gate with fake passes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Run before every release; the v2.9.0 suites passed 52 of 52 checks</a:t>
            </a:r>
            <a:endParaRPr lang="en-US" sz="1600" dirty="0"/>
          </a:p>
        </p:txBody>
      </p:sp>
      <p:graphicFrame>
        <p:nvGraphicFramePr>
          <p:cNvPr id="14" name="latenc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5486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time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95th pct.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an item (n = 300)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from wallet (n = 90)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exit pass (n = 90)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Measured on a 2-core test server with MySQL 8; network and camera time not included.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600200"/>
            <a:ext cx="2392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 / 360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313432"/>
            <a:ext cx="2392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forged or edited exit passes refused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250528" y="1600200"/>
            <a:ext cx="2392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/ 90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9250528" y="2313432"/>
            <a:ext cx="2392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second use of a genuine pass refused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611880"/>
            <a:ext cx="2392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/ 300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4325112"/>
            <a:ext cx="2392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unknown or mistyped codes refused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250528" y="3611880"/>
            <a:ext cx="2392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50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9250528" y="4325112"/>
            <a:ext cx="2392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edited top-up tokens refused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11  CHALLENGES AND CONCLUSION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wrong, what we learned, what is next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15258" cy="4114800"/>
          </a:xfrm>
          <a:prstGeom prst="roundRect">
            <a:avLst>
              <a:gd name="adj" fmla="val 2081"/>
            </a:avLst>
          </a:prstGeom>
          <a:solidFill>
            <a:srgbClr val="FDF3E7"/>
          </a:solidFill>
          <a:ln w="12700">
            <a:solidFill>
              <a:srgbClr val="FDF3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96661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HX711 board never answered, so the weight check is switched off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College asked for a Raspberry Pi: rewrote the ESP32 design in a day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Camera scanning broke in Firefox and on the Pi's browser; fixed in v2.8.5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338218" y="1600200"/>
            <a:ext cx="3515258" cy="4114800"/>
          </a:xfrm>
          <a:prstGeom prst="roundRect">
            <a:avLst>
              <a:gd name="adj" fmla="val 2081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2538" y="18288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2377440"/>
            <a:ext cx="296661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Flask blueprints keep a large API organised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HMAC signing makes QR codes safe to show on a phone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Automated Python tests catch bugs before a demo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8127797" y="1600200"/>
            <a:ext cx="3515258" cy="4114800"/>
          </a:xfrm>
          <a:prstGeom prst="roundRect">
            <a:avLst>
              <a:gd name="adj" fmla="val 208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2117" y="18288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402117" y="2377440"/>
            <a:ext cx="296661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Replace the HX711 and turn the weight check back 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Time the full scan-to-exit flow on the Pi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Port the cart electronics to ESP32 (semester 4)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Live demo: smartcart-gkrx.onrender.com   ·   Code: github.com/hardikrawat910-byte/smart-billing-cart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Cart Minimal">
  <a:themeElements>
    <a:clrScheme name="SmartCart Minimal">
      <a:dk1>
        <a:srgbClr val="1F2937"/>
      </a:dk1>
      <a:lt1>
        <a:srgbClr val="FFFFFF"/>
      </a:lt1>
      <a:dk2>
        <a:srgbClr val="0B2B3C"/>
      </a:dk2>
      <a:lt2>
        <a:srgbClr val="F3F6F7"/>
      </a:lt2>
      <a:accent1>
        <a:srgbClr val="0F766E"/>
      </a:accent1>
      <a:accent2>
        <a:srgbClr val="B45309"/>
      </a:accent2>
      <a:accent3>
        <a:srgbClr val="6B7280"/>
      </a:accent3>
      <a:accent4>
        <a:srgbClr val="15803D"/>
      </a:accent4>
      <a:accent5>
        <a:srgbClr val="B91C1C"/>
      </a:accent5>
      <a:accent6>
        <a:srgbClr val="CBD5E1"/>
      </a:accent6>
      <a:hlink>
        <a:srgbClr val="0F766E"/>
      </a:hlink>
      <a:folHlink>
        <a:srgbClr val="6B7280"/>
      </a:folHlink>
    </a:clrScheme>
    <a:fontScheme name="SmartCart Minim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Billing Cart</dc:title>
  <dc:subject>PptxGenJS Presentation</dc:subject>
  <dc:creator>Hardik Hemant Rawat, Shivraj Morde, Ismail Mohammed, Pranav Anand</dc:creator>
  <cp:lastModifiedBy>Hardik Hemant Rawat, Shivraj Morde, Ismail Mohammed, Pranav Anand</cp:lastModifiedBy>
  <cp:revision>1</cp:revision>
  <dcterms:created xsi:type="dcterms:W3CDTF">2026-10-16T15:47:57Z</dcterms:created>
  <dcterms:modified xsi:type="dcterms:W3CDTF">2026-10-16T15:47:57Z</dcterms:modified>
</cp:coreProperties>
</file>