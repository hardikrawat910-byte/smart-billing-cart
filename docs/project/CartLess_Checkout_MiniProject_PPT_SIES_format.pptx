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</p:sldMasterIdLst>
  <p:notesMasterIdLst>
    <p:notesMasterId r:id="rId10"/>
  </p:notesMasterIdLst>
  <p:sldIdLst>
    <p:sldId id="256" r:id="rId11"/>
    <p:sldId id="257" r:id="rId12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4" Type="http://schemas.openxmlformats.org/officeDocument/2006/relationships/presProps" Target="presProp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25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move the slide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26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27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B9FDEF-BF7D-47B8-8D8A-37AB050DA9E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D1FA23-D449-4D72-9014-5EC902FCE4B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BC369-DE5D-42B5-BD1A-5FD298FB9B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58D295-F6A3-46CC-9347-0CA38A71B4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jpe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3" name="Right Triangle 13" descr=""/>
            <p:cNvPicPr/>
            <p:nvPr/>
          </p:nvPicPr>
          <p:blipFill>
            <a:blip r:embed="rId2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" name="Straight Connector 14" descr=""/>
          <p:cNvPicPr/>
          <p:nvPr/>
        </p:nvPicPr>
        <p:blipFill>
          <a:blip r:embed="rId3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C499D5-2A52-45A1-9825-CD06F71E221F}" type="slidenum"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"/>
          <p:cNvSpPr/>
          <p:nvPr/>
        </p:nvSpPr>
        <p:spPr>
          <a:xfrm>
            <a:off x="0" y="4664160"/>
            <a:ext cx="9150480" cy="360"/>
          </a:xfrm>
          <a:prstGeom prst="rtTriangle">
            <a:avLst/>
          </a:prstGeom>
          <a:gradFill rotWithShape="0">
            <a:gsLst>
              <a:gs pos="0">
                <a:srgbClr val="007897"/>
              </a:gs>
              <a:gs pos="50000">
                <a:srgbClr val="4abbe0"/>
              </a:gs>
              <a:gs pos="100000">
                <a:srgbClr val="007897"/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" name="Group 15"/>
          <p:cNvGrpSpPr/>
          <p:nvPr/>
        </p:nvGrpSpPr>
        <p:grpSpPr>
          <a:xfrm>
            <a:off x="-3240" y="4952880"/>
            <a:ext cx="9147240" cy="1911600"/>
            <a:chOff x="-3240" y="4952880"/>
            <a:chExt cx="9147240" cy="1911600"/>
          </a:xfrm>
        </p:grpSpPr>
        <p:sp>
          <p:nvSpPr>
            <p:cNvPr id="13" name="Freeform 16"/>
            <p:cNvSpPr/>
            <p:nvPr/>
          </p:nvSpPr>
          <p:spPr>
            <a:xfrm>
              <a:off x="1693440" y="4952880"/>
              <a:ext cx="7444440" cy="487440"/>
            </a:xfrm>
            <a:custGeom>
              <a:avLst/>
              <a:gdLst>
                <a:gd name="textAreaLeft" fmla="*/ 0 w 7444440"/>
                <a:gd name="textAreaRight" fmla="*/ 7444440 w 7444440"/>
                <a:gd name="textAreaTop" fmla="*/ 0 h 487440"/>
                <a:gd name="textAreaBottom" fmla="*/ 487800 h 487440"/>
              </a:gdLst>
              <a:ahLst/>
              <a:rect l="textAreaLeft" t="textAreaTop" r="textAreaRight" b="textAreaBottom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Freeform 18"/>
            <p:cNvSpPr/>
            <p:nvPr/>
          </p:nvSpPr>
          <p:spPr>
            <a:xfrm>
              <a:off x="45360" y="5236920"/>
              <a:ext cx="9092880" cy="789120"/>
            </a:xfrm>
            <a:custGeom>
              <a:avLst/>
              <a:gdLst>
                <a:gd name="textAreaLeft" fmla="*/ 0 w 9092880"/>
                <a:gd name="textAreaRight" fmla="*/ 9093240 w 9092880"/>
                <a:gd name="textAreaTop" fmla="*/ 0 h 789120"/>
                <a:gd name="textAreaBottom" fmla="*/ 789480 h 789120"/>
              </a:gdLst>
              <a:ahLst/>
              <a:rect l="textAreaLeft" t="textAreaTop" r="textAreaRight" b="textAreaBottom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" name="Freeform 19"/>
            <p:cNvGrpSpPr/>
            <p:nvPr/>
          </p:nvGrpSpPr>
          <p:grpSpPr>
            <a:xfrm>
              <a:off x="8640" y="4998600"/>
              <a:ext cx="9129240" cy="1865880"/>
              <a:chOff x="8640" y="4998600"/>
              <a:chExt cx="9129240" cy="1865880"/>
            </a:xfrm>
          </p:grpSpPr>
          <p:pic>
            <p:nvPicPr>
              <p:cNvPr id="16" name="Freeform 19" descr=""/>
              <p:cNvPicPr/>
              <p:nvPr/>
            </p:nvPicPr>
            <p:blipFill>
              <a:blip r:embed="rId2"/>
              <a:stretch/>
            </p:blipFill>
            <p:spPr>
              <a:xfrm>
                <a:off x="8640" y="4998600"/>
                <a:ext cx="9129240" cy="18658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7" name=""/>
              <p:cNvSpPr/>
              <p:nvPr/>
            </p:nvSpPr>
            <p:spPr>
              <a:xfrm>
                <a:off x="9000" y="50007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pic>
          <p:nvPicPr>
            <p:cNvPr id="18" name="Straight Connector 6" descr=""/>
            <p:cNvPicPr/>
            <p:nvPr/>
          </p:nvPicPr>
          <p:blipFill>
            <a:blip r:embed="rId3"/>
            <a:stretch/>
          </p:blipFill>
          <p:spPr>
            <a:xfrm>
              <a:off x="-3240" y="4992480"/>
              <a:ext cx="9147240" cy="804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e8f0f4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0f4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C348E2-6C6F-42E5-A028-31AE53E35AA7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27" name="Right Triangle 1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9" name="Straight Connector 1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30" name="Chevron 10"/>
          <p:cNvSpPr/>
          <p:nvPr/>
        </p:nvSpPr>
        <p:spPr>
          <a:xfrm>
            <a:off x="3637080" y="3005280"/>
            <a:ext cx="182520" cy="228600"/>
          </a:xfrm>
          <a:custGeom>
            <a:avLst/>
            <a:gdLst>
              <a:gd name="textAreaLeft" fmla="*/ 0 w 182520"/>
              <a:gd name="textAreaRight" fmla="*/ 182880 w 1825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Chevron 15"/>
          <p:cNvSpPr/>
          <p:nvPr/>
        </p:nvSpPr>
        <p:spPr>
          <a:xfrm>
            <a:off x="3449520" y="3005280"/>
            <a:ext cx="184320" cy="228600"/>
          </a:xfrm>
          <a:custGeom>
            <a:avLst/>
            <a:gdLst>
              <a:gd name="textAreaLeft" fmla="*/ 0 w 184320"/>
              <a:gd name="textAreaRight" fmla="*/ 184680 w 1843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7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8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9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6DF41D-FA6F-49D4-8595-23E3DCA91114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40" name="Right Triangle 1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2" name="Straight Connector 1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0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11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6074B3-FCD6-4A42-A888-8F5A4A3C5F73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3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14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5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AF499A-B8D8-4D3E-BBEB-2321AF9F5BF7}" type="slidenum"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56" name="Right Triangle 1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7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8" name="Straight Connector 1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16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17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18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208050-7D11-41F3-954B-CB02E2AC5DCC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19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20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21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1A2BD0-25A3-46FD-807F-9A0DB0B759BC}" type="slidenum"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10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reeform 15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" name="Right Triangle 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72" name="Right Triangle 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3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4" name="Straight Connector 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75" name="Chevron 19"/>
          <p:cNvSpPr/>
          <p:nvPr/>
        </p:nvSpPr>
        <p:spPr>
          <a:xfrm>
            <a:off x="8664480" y="4987800"/>
            <a:ext cx="182520" cy="228600"/>
          </a:xfrm>
          <a:custGeom>
            <a:avLst/>
            <a:gdLst>
              <a:gd name="textAreaLeft" fmla="*/ 0 w 182520"/>
              <a:gd name="textAreaRight" fmla="*/ 182880 w 1825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hevron 20"/>
          <p:cNvSpPr/>
          <p:nvPr/>
        </p:nvSpPr>
        <p:spPr>
          <a:xfrm>
            <a:off x="8477280" y="4987800"/>
            <a:ext cx="182520" cy="228600"/>
          </a:xfrm>
          <a:custGeom>
            <a:avLst/>
            <a:gdLst>
              <a:gd name="textAreaLeft" fmla="*/ 0 w 182520"/>
              <a:gd name="textAreaRight" fmla="*/ 182880 w 1825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22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23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24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69DE31-5D3E-4E8E-83AF-B38E2A5A9B33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3" descr=""/>
          <p:cNvPicPr/>
          <p:nvPr/>
        </p:nvPicPr>
        <p:blipFill>
          <a:blip r:embed="rId2"/>
          <a:stretch/>
        </p:blipFill>
        <p:spPr>
          <a:xfrm>
            <a:off x="0" y="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1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89040" y="457200"/>
            <a:ext cx="77724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CartLess Checkout</a:t>
            </a:r>
          </a:p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Self-Billing Using Your Own Phone</a:t>
            </a:r>
          </a:p>
          <a:p>
            <a:pPr algn="ctr">
              <a:spcBef>
                <a:spcPts val="3000"/>
              </a:spcBef>
            </a:pPr>
            <a:r>
              <a:rPr sz="24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By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Hardik Hemant Rawat (125A2047)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Shivraj Morde (125A2033)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Ismail Mohammed (125A2052)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Pranav Anand (125A2062)</a:t>
            </a:r>
          </a:p>
          <a:p>
            <a:pPr algn="ctr">
              <a:spcBef>
                <a:spcPts val="3000"/>
              </a:spcBef>
            </a:pPr>
            <a:r>
              <a:rPr sz="24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Under Guidance of</a:t>
            </a:r>
          </a:p>
          <a:p>
            <a:pPr algn="ctr"/>
            <a:r>
              <a:rPr sz="24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Dr. Swati Rane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481040"/>
            <a:ext cx="8229600" cy="4843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Introduction </a:t>
            </a:r>
            <a:r>
              <a:rPr b="0" lang="en-US" sz="15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(discuss need of your project)</a:t>
            </a:r>
            <a:endParaRPr b="0" lang="en-US" sz="15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Methodology </a:t>
            </a:r>
            <a:r>
              <a:rPr b="0" lang="en-US" sz="1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(Algorithm/Flowchart)</a:t>
            </a:r>
            <a:endParaRPr b="0" lang="en-US" sz="1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System Architecture </a:t>
            </a:r>
            <a:r>
              <a:rPr b="0" lang="en-US" sz="1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(detailed Block diagram/Circuit diagram)</a:t>
            </a:r>
            <a:endParaRPr b="0" lang="en-US" sz="1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Hardware requirement 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Hardware Results </a:t>
            </a:r>
            <a:r>
              <a:rPr b="0" lang="en-US" sz="1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(showing complete work)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Applications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Conclusion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References  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endParaRPr b="0" lang="en-US" sz="20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94" name="Title 2" descr=""/>
          <p:cNvPicPr/>
          <p:nvPr/>
        </p:nvPicPr>
        <p:blipFill>
          <a:blip r:embed="rId1"/>
          <a:stretch/>
        </p:blipFill>
        <p:spPr>
          <a:xfrm>
            <a:off x="457200" y="274680"/>
            <a:ext cx="8229600" cy="1146240"/>
          </a:xfrm>
          <a:prstGeom prst="rect">
            <a:avLst/>
          </a:prstGeom>
          <a:ln w="0">
            <a:noFill/>
          </a:ln>
        </p:spPr>
      </p:pic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50000"/>
            <a:ext cx="8229600" cy="440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0" indent="0">
              <a:spcBef>
                <a:spcPts val="900"/>
              </a:spcBef>
              <a:buNone/>
            </a:pPr>
            <a:r>
              <a:rPr sz="2000" b="1" i="0">
                <a:solidFill>
                  <a:srgbClr val="1FAECD"/>
                </a:solidFill>
                <a:latin typeface="Times New Roman"/>
                <a:ea typeface="Times New Roman"/>
              </a:rPr>
              <a:t>Need of the project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Shoppers wait in billing queues even to pay for 2-3 items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Counter billing is slow, needs staff at every till and is open to errors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Checking at the exit that a customer has really paid is done by eye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Smart carts in IEEE work need an RFID tag on every product or a screen on the cart</a:t>
            </a:r>
          </a:p>
          <a:p>
            <a:pPr marL="0" indent="0">
              <a:spcBef>
                <a:spcPts val="900"/>
              </a:spcBef>
              <a:buNone/>
            </a:pPr>
            <a:r>
              <a:rPr sz="2000" b="1" i="0">
                <a:solidFill>
                  <a:srgbClr val="1FAECD"/>
                </a:solidFill>
                <a:latin typeface="Times New Roman"/>
                <a:ea typeface="Times New Roman"/>
              </a:rPr>
              <a:t>Our solution: CartLess Checkout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Shopper scans the barcode already printed on each pack with their own phone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Bill is paid from an in-app CartLess Wallet (topped up by cash or UPI)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A Raspberry Pi camera checks a signed, one-time exit pass before the shopper leaves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Live at smartcart-gkrx.onrender.com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Introduction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Methodology</a:t>
            </a:r>
          </a:p>
        </p:txBody>
      </p:sp>
      <p:pic>
        <p:nvPicPr>
          <p:cNvPr id="100" name="Picture 99" descr="fi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308" y="1150000"/>
            <a:ext cx="6551383" cy="45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System Architecture - Block Diagram</a:t>
            </a:r>
          </a:p>
        </p:txBody>
      </p:sp>
      <p:pic>
        <p:nvPicPr>
          <p:cNvPr id="100" name="Picture 99" descr="fig_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66" y="1150000"/>
            <a:ext cx="7905267" cy="455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System Architecture - Circuit Diagram</a:t>
            </a:r>
          </a:p>
        </p:txBody>
      </p:sp>
      <p:pic>
        <p:nvPicPr>
          <p:cNvPr id="100" name="Picture 99" descr="fig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45" y="1150000"/>
            <a:ext cx="7543510" cy="455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Hardware Requirement</a:t>
            </a:r>
          </a:p>
        </p:txBody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57200" y="1250000"/>
          <a:ext cx="8229600" cy="3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2900000"/>
                <a:gridCol w="2829600"/>
              </a:tblGrid>
              <a:tr h="4625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Component</a:t>
                      </a:r>
                    </a:p>
                  </a:txBody>
                  <a:tcPr marT="40000" marB="40000"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Specification</a:t>
                      </a:r>
                    </a:p>
                  </a:txBody>
                  <a:tcPr marT="40000" marB="40000"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Purpose</a:t>
                      </a:r>
                    </a:p>
                  </a:txBody>
                  <a:tcPr marT="40000" marB="40000">
                    <a:solidFill>
                      <a:srgbClr val="1FAECD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Raspberry Pi 4 Model B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Quad-core ARM, Wi-Fi, 40-pin GPIO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Runs the cart / exit-gate program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Pi Camera v2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 MP, CSI ribbon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Reads exit-pass and wallet-token QR codes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Load cell + HX711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 kg strain gauge, 24-bit ADC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Item weight check (built, switched off)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Green and red LEDs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 mm, with 220 Ω resistors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OK / stop signal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Active buzzer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3.3 V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Beep for OK / alert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microSD card + power supply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Raspberry Pi OS, 5 V 3 A USB-C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Storage and power for the Pi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Smartphone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Camera + web browser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Shopper scans items and pays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457200" y="5050000"/>
            <a:ext cx="82296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0000"/>
                </a:solidFill>
                <a:latin typeface="Times New Roman"/>
                <a:ea typeface="Times New Roman"/>
              </a:rPr>
              <a:t>Software: Python 3, Flask, MySQL 8, HTML/CSS/JavaScript, Raspberry Pi OS; hosted on Render + Aiven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Hardware Results (1/2)</a:t>
            </a:r>
          </a:p>
        </p:txBody>
      </p:sp>
      <p:pic>
        <p:nvPicPr>
          <p:cNvPr id="100" name="Picture 99" descr="raspberry-pi-gpio-wi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50000"/>
            <a:ext cx="2500000" cy="333333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1" name="TextBox 100"/>
          <p:cNvSpPr txBox="1"/>
          <p:nvPr/>
        </p:nvSpPr>
        <p:spPr>
          <a:xfrm>
            <a:off x="457200" y="4513333"/>
            <a:ext cx="2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Pi 4 GPIO wiring</a:t>
            </a:r>
          </a:p>
        </p:txBody>
      </p:sp>
      <p:pic>
        <p:nvPicPr>
          <p:cNvPr id="102" name="Picture 101" descr="hx711-load-cell-amplifi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200" y="1150000"/>
            <a:ext cx="2500000" cy="333333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3" name="TextBox 102"/>
          <p:cNvSpPr txBox="1"/>
          <p:nvPr/>
        </p:nvSpPr>
        <p:spPr>
          <a:xfrm>
            <a:off x="3157200" y="4513333"/>
            <a:ext cx="2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HX711 + load cell wires</a:t>
            </a:r>
          </a:p>
        </p:txBody>
      </p:sp>
      <p:pic>
        <p:nvPicPr>
          <p:cNvPr id="104" name="Picture 103" descr="pi_desktop_count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200" y="1850000"/>
            <a:ext cx="2829600" cy="12733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5857200" y="3153320"/>
            <a:ext cx="28296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CartLess Wallet counter on the Pi's own display (lab EXTC 129)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Hardware Results (2/2)</a:t>
            </a:r>
          </a:p>
        </p:txBody>
      </p:sp>
      <p:pic>
        <p:nvPicPr>
          <p:cNvPr id="100" name="Picture 99" descr="02_scan_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1" name="TextBox 100"/>
          <p:cNvSpPr txBox="1"/>
          <p:nvPr/>
        </p:nvSpPr>
        <p:spPr>
          <a:xfrm>
            <a:off x="39720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Scan adds the item</a:t>
            </a:r>
          </a:p>
        </p:txBody>
      </p:sp>
      <p:pic>
        <p:nvPicPr>
          <p:cNvPr id="102" name="Picture 101" descr="03_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12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3" name="TextBox 102"/>
          <p:cNvSpPr txBox="1"/>
          <p:nvPr/>
        </p:nvSpPr>
        <p:spPr>
          <a:xfrm>
            <a:off x="206712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Cart + offers</a:t>
            </a:r>
          </a:p>
        </p:txBody>
      </p:sp>
      <p:pic>
        <p:nvPicPr>
          <p:cNvPr id="104" name="Picture 103" descr="05_wallet_token_u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04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373704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Wallet top-up token</a:t>
            </a:r>
          </a:p>
        </p:txBody>
      </p:sp>
      <p:pic>
        <p:nvPicPr>
          <p:cNvPr id="106" name="Picture 105" descr="04_bi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696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540696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Bill + exit pass</a:t>
            </a:r>
          </a:p>
        </p:txBody>
      </p:sp>
      <p:pic>
        <p:nvPicPr>
          <p:cNvPr id="108" name="Picture 107" descr="07_exit_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88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707688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Exit gate: OK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5330000"/>
            <a:ext cx="82296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Exit gate and wallet-token reading run on the Pi camera; weight check switched off (HX711 failed)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50000"/>
            <a:ext cx="8229600" cy="440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Neighbourhood general stores and kiranas: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shoppers bill themselves, no queue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Supermarkets: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scan-and-go lanes without RFID tags on every product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College canteens and campus stores: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students pay from a prepaid wallet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Stationery and electronics-parts shops: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QR labels for loose items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Pharmacies and small retail chains: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signed exit pass replaces bill checking by eye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Events and exhibitions: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pop-up stalls run from a phone and one Raspberry Pi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Applications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50000"/>
            <a:ext cx="8229600" cy="440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Built a working self-checkout: phone scanning, wallet payment and a Pi-camera exit gate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Uses the barcodes already printed on packs: no RFID tags, unlike most IEEE carts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Exit passes are HMAC-signed and work once: screenshots and reused bills are refused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Weight check is built but switched off; no timing or accuracy tests yet</a:t>
            </a:r>
          </a:p>
          <a:p>
            <a:pPr marL="0" indent="0">
              <a:spcBef>
                <a:spcPts val="900"/>
              </a:spcBef>
              <a:buNone/>
            </a:pPr>
            <a:r>
              <a:rPr sz="2000" b="1" i="0">
                <a:solidFill>
                  <a:srgbClr val="1FAECD"/>
                </a:solidFill>
                <a:latin typeface="Times New Roman"/>
                <a:ea typeface="Times New Roman"/>
              </a:rPr>
              <a:t>Future scope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Fit a working HX711 and measure accuracy over 100+ trials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Weigh the bag at the exit; direct UPI gateway payment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Lower-cost ESP32 version of the cart electronics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Conclusion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00000"/>
            <a:ext cx="8229600" cy="445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[1] M. Kumar et al., "Intelligent Shopping Trolley with Automated Billing using Raspberry Pi," Proc. ICSTCEE, 2023, doi: 10.1109/ICSTCEE60504.2023.10585242.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[2] N. Ibrahim et al., "Smart Shopping Cart: A Raspberry Pi-Based System for Reducing Supermarket Checkout Delays," Proc. 3SCEA, 2026, pp. 1100-1109, doi: 10.1109/3SCEA68071.2026.11602934.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[3] M. Shahroz et al., "IoT-Based Smart Shopping Cart Using Radio Frequency Identification," IEEE Access, vol. 8, pp. 68426-68438, 2020, doi: 10.1109/ACCESS.2020.2986681.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[4] R. Nishitha et al., "IoT Based Automatic Billing System Using Barcode Scanner by Android Device and Monitoring Unregistered Barcode by RFID," Proc. RTEICT, 2019, pp. 15-20, doi: 10.1109/RTEICT46194.2019.9016698.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[5] M. H. Walid et al., "The Smart Cart with Automatic Billing and Anti-Theft," Proc. ICEECE, 2026, doi: 10.1109/ICEECE71300.2026.11709931.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[6] CartLess Checkout project source code: github.com/hardikrawat910-byte/cartless-checkout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References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2017-06-05T11:59:55Z</dcterms:created>
  <dc:creator>Hardik Hemant Rawat, Shivraj Morde, Ismail Mohammed, Pranav Anand</dc:creator>
  <dc:description/>
  <dc:language>en-US</dc:language>
  <cp:lastModifiedBy>Hardik Hemant Rawat, Shivraj Morde, Ismail Mohammed, Pranav Anand</cp:lastModifiedBy>
  <dcterms:modified xsi:type="dcterms:W3CDTF">2024-03-27T09:43:52Z</dcterms:modified>
  <cp:revision>78</cp:revision>
  <dc:subject/>
  <dc:title>PROJECT TOPIC SELECTION</dc:title>
</cp:coreProperties>
</file>